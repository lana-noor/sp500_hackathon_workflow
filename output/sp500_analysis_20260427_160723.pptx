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IT vs Energy: 2017–2021 Performance and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</a:rPr>
              <a:t>How did Information Technology compare to Energy from 2017 to 2021, and what drove differences?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A8C8"/>
                </a:solidFill>
              </a:rPr>
              <a:t>Analysis period: 2017-01 – 2021-12 · Prepared by: Financial Research Synthesizer (Agent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7898"/>
                </a:solidFill>
              </a:rPr>
              <a:t>Source data: S&amp;P 500 constituents Jan 2017 – Dec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Information Technology materially outperformed Energy over 2017–2021 (see cumulative returns chart).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1430000" cy="804672"/>
          </a:xfrm>
          <a:prstGeom prst="rect">
            <a:avLst/>
          </a:prstGeom>
          <a:solidFill>
            <a:srgbClr val="27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414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Energy experienced a larger COVID-era drawdown in 2020 and slower recovery.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11430000" cy="804672"/>
          </a:xfrm>
          <a:prstGeom prst="rect">
            <a:avLst/>
          </a:prstGeom>
          <a:solidFill>
            <a:srgbClr val="35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015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IT delivered higher annualized returns with moderate volatility versus Energy's higher volatility.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51960"/>
            <a:ext cx="11430000" cy="804672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Constituent-level contributors explain much of the equal-weighted sector return differences.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Cumulative returns: Information Technology vs Energy (equal-weighted)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</a:rPr>
              <a:t>The equal-weighted cumulative return lines show Information Technology diverging ahead of Energy across 2017–2021, with a notable gap that widens around the 2020 COVID shock. Energy's pronounced 2020 drawdown visible on the chart is consistent with the oil demand collapse and large OPEC+ production adjustments documented by the EIA.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898"/>
                </a:solidFill>
              </a:rPr>
              <a:t>Sources: https://www.thriventfunds.com/content/dam/thrivent/mcs/site-media/insights/market-update/quilt-charts-asset-class-sector-and-fixed-income-performance-past-10-years/33094J-Sectors.pdf | https://www.eia.gov/todayinenergy/detail.php?id=45236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Rolling 12-month returns: leadership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</a:rPr>
              <a:t>Rolling 12-month returns highlight changing leadership between the sectors and show sustained IT outperformance after 2020. Periods where Energy leads are short-lived and coincide with oil price recoveries visible in market narratives.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898"/>
                </a:solidFill>
              </a:rPr>
              <a:t>Sources: https://www.thriventfunds.com/content/dam/thrivent/mcs/site-media/insights/market-update/quilt-charts-asset-class-sector-and-fixed-income-performance-past-10-years/33094J-Sectors.pdf | https://www.ecb.europa.eu/pub/pdf/scpwps/ecb.wp2467~c8f35853cc.en.pdf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Risk vs Return: annualized return and volatility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</a:rPr>
              <a:t>The return-volatility scatter positions Information Technology with higher annualized returns and moderate volatility, while Energy sits with lower returns and higher volatility. This cross-sector divergence aligns with academic and practitioner findings on sector risk profiles during 2017–2021.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898"/>
                </a:solidFill>
              </a:rPr>
              <a:t>Sources: https://link.springer.com/article/10.1007/s11156-021-01018-8 | https://www.thriventfunds.com/content/dam/thrivent/mcs/site-media/insights/market-update/quilt-charts-asset-class-sector-and-fixed-income-performance-past-10-years/33094J-Sectors.pdf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Maximum drawdown comparison (peak and trough dates)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</a:rPr>
              <a:t>The max-drawdown bars compare the largest peak-to-trough declines for each sector; Energy shows the larger drawdown magnitude with peak/trough occurring around the 2020 demand collapse. The timing corresponds with documented negative WTI pricing and the large OPEC+ cuts in 2020.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898"/>
                </a:solidFill>
              </a:rPr>
              <a:t>Sources: https://www.eia.gov/todayinenergy/detail.php?id=45236 | https://www.forbesmiddleeast.com/industry/energy/heres-all-production-adjustments-announced-by-opec-since-the-covid-19-outbreak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Top and bottom ticker contributors (equal-weighted) — IT 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</a:rPr>
              <a:t>Grouped horizontal bars show the top 5 positive and bottom 5 negative tickers by total return and their absolute contributions to each sector's equal-weighted cumulative return. The chart illustrates how equal-weighting changes the influence of mega-cap names versus smaller constituents.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898"/>
                </a:solidFill>
              </a:rPr>
              <a:t>Sources: https://www.indexologyblog.com/2023/04/26/equally-weighting-within-sectors-impact-and-potential-applications/ | https://www.msci.com/eqb/methodology/meth_docs/MSCI_Equal_Sector_Weighted_Indexes_Methodology_June2017.pdf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Drivers: Macro, commodity, and industry explanations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16736"/>
            <a:ext cx="11430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Energy underperformance driven by oil demand collapse in 2020 and large OPEC+ production adjustments.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OPEC+ production cuts and subsequent supply management were key supply-side drivers for oil prices 2017–2021.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IT outperformance supported by accelerated cloud adoption and digital transformation during 2017–2021.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COVID-19 accelerated remote work and cloud migration, boosting revenue growth for many tech firms.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Equal-weighting reduces mega-cap dominance, so constituent mix meaningfully affected sector-level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Sources: https://www.eia.gov/todayinenergy/detail.php?id=45236 | https://www.ecb.europa.eu/pub/pdf/scpwps/ecb.wp2467~c8f35853cc.en.pdf | https://www.forbesmiddleeast.com/industry/energy/heres-all-production-adjustments-announced-by-opec-since-the-covid-19-outbreak | https://www.statista.com/topics/6778/digital-transformation/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Sources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0817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OPEC+ agreement to reduce production contributes to global oil market rebalancing - EIA 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08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https://www.eia.gov/todayinenergy/detail.php?id=45236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The influence of OPEC+ on oil prices: a quantitative assessment (ECB Working Paper)  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https://www.ecb.europa.eu/pub/pdf/scpwps/ecb.wp2467~c8f35853cc.en.pdf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32304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 Complete List of OPEC+ Production Cuts and Hikes Over the Past 3 Years - Forbes Middle East  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https://www.forbesmiddleeast.com/industry/energy/heres-all-production-adjustments-announced-by-opec-since-the-covid-19-outbreak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2656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Digital transformation - statistics &amp; facts | Statista  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99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https://www.statista.com/topics/6778/digital-transformation/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93008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Cloud-migration opportunity: Business value grows, but missteps abound - McKinsey 2021  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295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mckinsey.com/~/media/mckinsey/industries/technology%20media%20and%20telecommunications/high%20tech/our%20insights/cloud%20migration%20opportunity%20business%20value%20grows%20but-missteps-abound/cloud-migration-opportunity-business-value-grows-but-missteps-abound_final.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993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Apple and Microsoft annual revenues and performance drivers 2017-2021 - FinanceCharts  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59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https://www.financecharts.com/compare/MSFT,AAPL,GOOGL/income-statement/revenue-annual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53712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902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Apple Inc. Investor Relations - Latest presentations and 10-K filings  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90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https://investor.apple.com/investor-relations/default.aspx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84064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Annual S&amp;P Sector Returns &amp; Comparative Volatility &amp; Drawdown - Thrivent Fund  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https://www.thriventfunds.com/content/dam/thrivent/mcs/site-media/insights/market-update/quilt-charts-asset-class-sector-and-fixed-income-performance-past-10-years/33094J-Sectors.pdf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14416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509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Volatility spillover among sector equity returns under structural breaks - Springer  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50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https://link.springer.com/article/10.1007/s11156-021-01018-8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Data source: S&amp;P 500 constituent data Jan 2017 – Dec 2021  |  For internal use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