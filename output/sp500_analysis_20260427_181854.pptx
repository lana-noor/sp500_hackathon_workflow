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8229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Enterprise Software: MSFT vs Peers (2017–2021)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4F7"/>
                </a:solidFill>
              </a:rPr>
              <a:t>Compare Microsoft, Salesforce, Adobe, ServiceNow, Oracle total and risk-adjusted returns (2017–2021)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A8C8"/>
                </a:solidFill>
              </a:rPr>
              <a:t>2017-01 – 2021-12 · Prepared by Financial Research Synthesizer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07898"/>
                </a:solidFill>
              </a:rPr>
              <a:t>Source data: S&amp;P 500 constituents Jan 2017 – Dec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80467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NOW highest cumulative total return: 724.737713% (growth factor 8.247377).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11430000" cy="804672"/>
          </a:xfrm>
          <a:prstGeom prst="rect">
            <a:avLst/>
          </a:prstGeom>
          <a:solidFill>
            <a:srgbClr val="275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4144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MSFT highest annualised Sharpe: 1.998278; annualised volatility 18.228251%.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91840"/>
            <a:ext cx="11430000" cy="804672"/>
          </a:xfrm>
          <a:prstGeom prst="rect">
            <a:avLst/>
          </a:prstGeom>
          <a:solidFill>
            <a:srgbClr val="35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015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Top total-return ranks: NOW 724.737713%, ADBE 498.863572%, MSFT 456.981801%.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251960"/>
            <a:ext cx="11430000" cy="804672"/>
          </a:xfrm>
          <a:prstGeom prst="rect">
            <a:avLst/>
          </a:prstGeom>
          <a:solidFill>
            <a:srgbClr val="1E5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6168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Largest max drawdown: CRM -22.292316% (2020-08 to 2021-03).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Five-way performance summary (2017–2021)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1143000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495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Total Return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Max Drawdown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Sharpe Ratio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Ann. Volatility</a:t>
                      </a:r>
                    </a:p>
                  </a:txBody>
                  <a:tcPr>
                    <a:solidFill>
                      <a:srgbClr val="1A376C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Microsoft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456.981801%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-10.808098%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1.998278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18.228251%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Salesforce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277.329843%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-22.292316%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1.072058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28.528518%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Adobe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498.863572%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-16.191889%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1.600188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24.523652%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724.737713%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-15.270681%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1.700333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27.285638%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Oracle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148.980343%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-14.061751%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1.023168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03030"/>
                          </a:solidFill>
                        </a:rPr>
                        <a:t>19.82596%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114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03030"/>
                </a:solidFill>
              </a:rPr>
              <a:t>Totals, volatility, Sharpe and drawdowns computed over 2017-01 to 2021-12 (monthly returns/prices).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Quantitative rankings &amp; key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16736"/>
            <a:ext cx="11430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Ranking by cumulative total return: 1) NOW, 2) ADBE, 3) MSFT, 4) CRM, 5) ORCL (NOW = 724.737713%).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Ranking by annualised Sharpe: 1) MSFT (1.998278), 2) NOW (1.700333), 3) ADBE (1.600188).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MSFT combined top Sharpe (1.998278) and lowest volatility (18.228251%) among peers.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ORCL delivered the lowest total return: 148.980343% over the period.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Sources: https://markets.financialcontent.com/stocks/article/finterra-2026-4-14-the-platform-of-platforms-at-a-crossroads-a-2026-deep-dive-into-servicenow-now | https://www.businessinsider.com/salesforce-earnings-mulesoft-tableau-revenue-fastest-growing-2021-5 | https://www.mckinsey.com/industries/technology-media-and-telecommunications/our-insights/enterprise-softwares-growing-reach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Calendar-year leaders, volatility and drawdowns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16736"/>
            <a:ext cx="11430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NOW led calendar-year returns in 2017–2020: 75.396833%, 36.551886%, 58.562203%, 94.966697%; MSFT led 2021 at 45.895846%.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Largest max drawdown: CRM -22.292316% (peak 2020-08, trough 2021-03).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Shallowest max drawdown: MSFT -10.808098% (peak 2018-09, trough 2018-12).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Sources: https://markets.financialcontent.com/stocks/article/finterra-2026-4-14-the-platform-of-platforms-at-a-crossroads-a-2026-deep-dive-into-servicenow-now | https://www.businessinsider.com/salesforce-earnings-mulesoft-tableau-revenue-fastest-growing-2021-5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Selected qualitative evidence explaining divergences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16736"/>
            <a:ext cx="11430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ServiceNow: sources document strong multi-year shareholder gains and cited 22.1% YoY revenue in a referenced quarter.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Salesforce: MuleSoft (2018) and Tableau (2019) acquisitions and rising subscription/support revenues tied to growth (YCharts, Business Insider).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Oracle: cited summaries show faster IaaS/infrastructure growth and heavy CapEx, which can explain lag versus pure SaaS peers.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03030"/>
                </a:solidFill>
              </a:rPr>
              <a:t>•   Sector context: McKinsey highlights enterprise software's expanding reach as a tailwind for shareholder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9893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Sources: https://markets.financialcontent.com/stocks/article/finterra-2026-4-14-the-platform-of-platforms-at-a-crossroads-a-2026-deep-dive-into-servicenow-now | https://www.gurufocus.com/news/8817858/servicenow-now-reports-221-revenue-growth-amid-pricing-model-shift?mobile=true | https://www.businessinsider.com/salesforce-earnings-mulesoft-tableau-revenue-fastest-growing-2021-5 | https://ycharts.com/indicators/salesforce_inc_crm_total_subscription_and_support_revenue_currencys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03030"/>
                </a:solidFill>
              </a:rPr>
              <a:t>S&amp;P 500 Research  |  2017-01 – 2021-12  |  2026-04-27  |  Data: Jan 2017 – Dec 2021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A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64008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Sources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0817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 2026 Deep Dive into ServiceNow (NOW)  (unknown)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0817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https://markets.financialcontent.com/stocks/article/finterra-2026-4-14-the-platform-of-platforms-at-a-crossroads-a-2026-deep-dive-into-servicenow-now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ServiceNow (NOW) Reports 22.1% Revenue Growth Amid Pricing ...  (unknown)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38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https://www.gurufocus.com/news/8817858/servicenow-now-reports-221-revenue-growth-amid-pricing-model-shift?mobile=true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32304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A Look At ServiceNow (NOW) Valuation As Confidence Returns To ...  (unknown)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https://www.sahmcapital.com/news/content/a-look-at-servicenow-now-valuation-as-confidence-returns-to-ai-workflow-automation-leader-2026-04-01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62656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MuleSoft, Tableau Are Salesforce's Fastest Growing Businesses - Business Insider 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9992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https://www.businessinsider.com/salesforce-earnings-mulesoft-tableau-revenue-fastest-growing-2021-5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93008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52958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Salesforce Inc (CRM) - Total Subscription and Support Revenue  (unknown)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295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https://ycharts.com/indicators/salesforce_inc_crm_total_subscription_and_support_revenue_currencys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23360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5993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Oracle Corp (ORCL) Q4 2025 Earnings Call Highlights: Cloud Surge and Strategic Investments ...  (unknown)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59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https://finance.yahoo.com/news/oracle-corp-orcl-q4-2025-070138315.html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53712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59028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Oracle Corp (ORCL) Q4 2025 Earnings Call Highlights: Cloud Surge and Strategic Investments ... By GuruFocus  (unknown)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902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https://ca.investing.com/news/company-news/oracle-corp-orcl-q4-2025-earnings-call-highlights-cloud-surge-and-strategic-investments--4061375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84064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Enterprise software's growing reach | McKinsey &amp; Company  (unknown)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20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https://www.mckinsey.com/industries/technology-media-and-telecommunications/our-insights/enterprise-softwares-growing-reach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14416"/>
            <a:ext cx="11430000" cy="438912"/>
          </a:xfrm>
          <a:prstGeom prst="rect">
            <a:avLst/>
          </a:prstGeom>
          <a:solidFill>
            <a:srgbClr val="182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5099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6E4F7"/>
                </a:solidFill>
              </a:rPr>
              <a:t>Public Software Valuation Multiples — April 2026  (2026-04-22)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65099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0A8C8"/>
                </a:solidFill>
              </a:rPr>
              <a:t>https://multiples.vc/insights/software-saas-valuation-multiples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07898"/>
                </a:solidFill>
              </a:rPr>
              <a:t>Data source: S&amp;P 500 constituent data Jan 2017 – Dec 2021  |  For internal use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